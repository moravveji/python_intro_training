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4" r:id="rId4"/>
    <p:sldId id="270" r:id="rId5"/>
    <p:sldId id="265" r:id="rId6"/>
    <p:sldId id="268" r:id="rId7"/>
    <p:sldId id="271" r:id="rId8"/>
    <p:sldId id="273" r:id="rId9"/>
    <p:sldId id="272" r:id="rId10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92F18B-244A-4578-A6C3-9B40490A1E01}" v="23" dt="2025-10-14T11:05:54.2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DFA29-71C9-AF49-1769-2BD53793B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70F16-6C45-0055-3DC2-E7B568988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B7FD6-7F83-8586-4B42-246564DE1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41F16-E846-4287-BC24-E0AC52C6D6DD}" type="datetimeFigureOut">
              <a:rPr lang="nl-BE" smtClean="0"/>
              <a:t>1/10/2026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9DED4-AB2D-B86A-B4A0-3F136C683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D1DDF-B827-038F-E51F-0121A1AB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89234-6C00-4A7F-86CB-7DDF717771E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27008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41BD5-B194-2413-B434-29A11075D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BC3E3-95F6-BFA3-464B-A6FF4CD47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E444C-AC76-7CFF-8928-A4EA6CD6D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41F16-E846-4287-BC24-E0AC52C6D6DD}" type="datetimeFigureOut">
              <a:rPr lang="nl-BE" smtClean="0"/>
              <a:t>1/10/2026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3697B-ED55-3E3F-1A26-DB0BD6AD4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62926-159C-E8D5-1E7C-4FFDDE05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89234-6C00-4A7F-86CB-7DDF717771E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57659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95760-DEE1-A512-5124-D948F2FEA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572C3-4192-04AB-2D7B-D5CA8378D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75B6F-D7D9-B54F-033F-856E56C34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41F16-E846-4287-BC24-E0AC52C6D6DD}" type="datetimeFigureOut">
              <a:rPr lang="nl-BE" smtClean="0"/>
              <a:t>1/10/2026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33D06-EA10-0593-76AD-431F3F1A4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B8088-9640-F5BB-A1B9-7BF38181E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89234-6C00-4A7F-86CB-7DDF717771E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9077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D9323-F6D9-1940-8FA4-B48C80DD7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0D2D4-604F-730C-E1E1-2CB60CFA30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9E8D4-B5EB-B5D7-A1DE-7F9742BB2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1ABEB-02CB-FD21-ED15-9CCF5D577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41F16-E846-4287-BC24-E0AC52C6D6DD}" type="datetimeFigureOut">
              <a:rPr lang="nl-BE" smtClean="0"/>
              <a:t>1/10/2026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8772D-4CEE-8F28-C750-84E6C9A36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1D5FE-48E6-0B79-20F0-537534D8C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89234-6C00-4A7F-86CB-7DDF717771E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02319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43D92-E135-B92E-B69A-A90432954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37622-431F-8CA5-7008-7E827FB7C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A2366-8197-98AD-1FE2-2B1DA9B05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6E8589-7A40-6DC2-0EE7-50B58ECD7A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91B830-3117-C783-F6C1-059B2C41F7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EF05FE-8EC8-DB52-F579-000242950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41F16-E846-4287-BC24-E0AC52C6D6DD}" type="datetimeFigureOut">
              <a:rPr lang="nl-BE" smtClean="0"/>
              <a:t>1/10/2026</a:t>
            </a:fld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A732DC-0FEB-2F4D-6E3E-AC984099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0BEFCE-14B0-EE7E-14E4-50CE50E92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89234-6C00-4A7F-86CB-7DDF717771E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54107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114C-E909-18A3-55F2-E703CBEA6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2C4A52-EB4F-2D6B-A4CD-59A5F6378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41F16-E846-4287-BC24-E0AC52C6D6DD}" type="datetimeFigureOut">
              <a:rPr lang="nl-BE" smtClean="0"/>
              <a:t>1/10/2026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7DFF4-506A-D42C-4C90-327AADEC2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B864D-9B0E-D458-37ED-558C2E1DA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89234-6C00-4A7F-86CB-7DDF717771E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41868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3AD90-52D7-41BD-A2BB-C04B8943F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41F16-E846-4287-BC24-E0AC52C6D6DD}" type="datetimeFigureOut">
              <a:rPr lang="nl-BE" smtClean="0"/>
              <a:t>1/10/2026</a:t>
            </a:fld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B0FE0A-C75D-C3EB-71AC-7A014E75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3D3F9-93B1-FF5C-CE11-1C591B4F3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89234-6C00-4A7F-86CB-7DDF717771E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5202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5CCC1-C503-1F82-5F97-DA866270C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398E8-8B3A-E2A5-88C3-1C1B9EA3B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8A22C-095B-3F26-8FA3-E36E0E803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57F56-65A7-3799-8836-20ADC0CF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41F16-E846-4287-BC24-E0AC52C6D6DD}" type="datetimeFigureOut">
              <a:rPr lang="nl-BE" smtClean="0"/>
              <a:t>1/10/2026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BB415-5B00-6E60-E7BA-C88223FBE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981B8-E89E-BF9A-1694-7E34A41D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89234-6C00-4A7F-86CB-7DDF717771E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3899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59612-B97B-F793-4E63-E514B0B42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36F026-03C2-F580-3622-4CC5EBA9B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B0B1A-1976-88CD-B1B5-3DA2A6233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18595-065A-1316-B671-909A33A8E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41F16-E846-4287-BC24-E0AC52C6D6DD}" type="datetimeFigureOut">
              <a:rPr lang="nl-BE" smtClean="0"/>
              <a:t>1/10/2026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8F228-1584-D862-437D-7B728DACD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4E1E8-6F84-9243-99EA-FF676D6D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89234-6C00-4A7F-86CB-7DDF717771E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5693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EBDFD-12D5-4A2E-6F95-69D5636A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A94B00-8749-F832-43D2-BB67E0DC2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FAB8C-3DFB-2D36-E307-16F40FD3C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41F16-E846-4287-BC24-E0AC52C6D6DD}" type="datetimeFigureOut">
              <a:rPr lang="nl-BE" smtClean="0"/>
              <a:t>1/10/2026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4AA83-73B0-FC1F-79AA-7165061EE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957A4-AC28-DA30-F197-1B95E6B47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89234-6C00-4A7F-86CB-7DDF717771E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83073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595782-3A66-EE33-1A72-0F7030525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D6E12-C366-1891-049B-06F54F2D4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DCD8A-7982-B8AF-425C-9FC25FE71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41F16-E846-4287-BC24-E0AC52C6D6DD}" type="datetimeFigureOut">
              <a:rPr lang="nl-BE" smtClean="0"/>
              <a:t>1/10/2026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84361-17D4-4C0D-18C4-17CD06566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90091-B0A6-D64A-1321-80A0ECFE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89234-6C00-4A7F-86CB-7DDF717771E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02051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2A65D8-DBC8-B535-C4AB-080AE7D30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6C605-824A-FFF3-7880-79CB82370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BF4D1-64D1-3A9D-FB3F-37F43B8DE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B41F16-E846-4287-BC24-E0AC52C6D6DD}" type="datetimeFigureOut">
              <a:rPr lang="nl-BE" smtClean="0"/>
              <a:t>1/10/2026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6E0F8-2932-AC4E-8EE9-7E83396153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C4E97-9D8C-A3FB-283C-82E3BEC698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589234-6C00-4A7F-86CB-7DDF717771E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09829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copilot/overview" TargetMode="External"/><Relationship Id="rId2" Type="http://schemas.openxmlformats.org/officeDocument/2006/relationships/hyperlink" Target="https://copilot.cloud.microsoft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hyperlink" Target="https://code.visualstudio.com/docs/copilot/setup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github.com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jockeroika/life-style-data/data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quickstart</a:t>
            </a:r>
            <a:r>
              <a:rPr lang="en-US" dirty="0"/>
              <a:t> into the key concepts of programming</a:t>
            </a:r>
          </a:p>
          <a:p>
            <a:r>
              <a:rPr lang="en-US" dirty="0"/>
              <a:t>AI-powered (Python) coding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619848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867"/>
    </mc:Choice>
    <mc:Fallback xmlns="">
      <p:transition spd="slow" advTm="2186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using AI for coding?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48255"/>
          </a:xfrm>
          <a:ln w="38100">
            <a:solidFill>
              <a:srgbClr val="0070C0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The code legacy is used to train large language models</a:t>
            </a:r>
          </a:p>
          <a:p>
            <a:r>
              <a:rPr lang="en-US" dirty="0"/>
              <a:t>The existing/legacy software examples are very rich and diverse</a:t>
            </a:r>
          </a:p>
          <a:p>
            <a:r>
              <a:rPr lang="en-US" dirty="0"/>
              <a:t>AI can make reasonable recommendations, specially for generic programming, error interpretation, debugging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AI lifts the weight of having-to-know-it-all from user’s shoulders</a:t>
            </a:r>
            <a:endParaRPr lang="nl-B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45F7BD-A77C-D76C-99AA-6E43587BDD7D}"/>
              </a:ext>
            </a:extLst>
          </p:cNvPr>
          <p:cNvSpPr txBox="1">
            <a:spLocks/>
          </p:cNvSpPr>
          <p:nvPr/>
        </p:nvSpPr>
        <p:spPr>
          <a:xfrm>
            <a:off x="838200" y="4508817"/>
            <a:ext cx="10515600" cy="1668146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AI hallucinates! Your recommended code works but may produce garbage</a:t>
            </a:r>
          </a:p>
          <a:p>
            <a:r>
              <a:rPr lang="en-US" dirty="0"/>
              <a:t>You are still the sole responsible for the outcome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65638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061"/>
    </mc:Choice>
    <mc:Fallback xmlns="">
      <p:transition spd="slow" advTm="19906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0CDA7-57C9-75B0-9535-14BCE988A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ECEB0-2AB9-C188-D4F4-93C44B14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backend to use?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08DF4-CBC5-DC76-AFE5-B46E3618E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choices of LLMs are ever-growing: Pick your favorite</a:t>
            </a:r>
          </a:p>
          <a:p>
            <a:r>
              <a:rPr lang="en-US" dirty="0"/>
              <a:t>The well-known ones perform equally good for coding</a:t>
            </a:r>
          </a:p>
          <a:p>
            <a:r>
              <a:rPr lang="en-US" dirty="0"/>
              <a:t>In this training, we use Microsoft Copilot (KU Leuven license)</a:t>
            </a:r>
          </a:p>
          <a:p>
            <a:r>
              <a:rPr lang="en-US" dirty="0"/>
              <a:t>Also, </a:t>
            </a:r>
            <a:r>
              <a:rPr lang="en-US" dirty="0" err="1"/>
              <a:t>Github</a:t>
            </a:r>
            <a:r>
              <a:rPr lang="en-US" dirty="0"/>
              <a:t> belongs to Microsoft!</a:t>
            </a:r>
            <a:br>
              <a:rPr lang="en-US" dirty="0"/>
            </a:br>
            <a:r>
              <a:rPr lang="en-US" dirty="0"/>
              <a:t>Thus, Microsoft Copilot is well-trained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81082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061"/>
    </mc:Choice>
    <mc:Fallback xmlns="">
      <p:transition spd="slow" advTm="19906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3529C-E7AD-E303-D427-F228F3701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73C31-FF43-1D84-A08B-4DF5A5126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AI help with programming?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4D9CB-C054-32B7-5FBF-C7C0B356E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Suggesting good use of a language standard library or well-known 3</a:t>
            </a:r>
            <a:r>
              <a:rPr lang="en-US" baseline="30000" dirty="0"/>
              <a:t>rd</a:t>
            </a:r>
            <a:r>
              <a:rPr lang="en-US" dirty="0"/>
              <a:t> parties. E.g.:</a:t>
            </a:r>
          </a:p>
          <a:p>
            <a:r>
              <a:rPr lang="en-US" dirty="0"/>
              <a:t>Argument parsing</a:t>
            </a:r>
          </a:p>
          <a:p>
            <a:r>
              <a:rPr lang="en-US" dirty="0"/>
              <a:t>Code styling</a:t>
            </a:r>
          </a:p>
          <a:p>
            <a:r>
              <a:rPr lang="en-US" dirty="0"/>
              <a:t>Writing (inline) documentation and/or docstrings</a:t>
            </a:r>
          </a:p>
          <a:p>
            <a:r>
              <a:rPr lang="en-US" dirty="0"/>
              <a:t>Writing unit tests (strongly relevant to capture </a:t>
            </a:r>
            <a:r>
              <a:rPr lang="en-US"/>
              <a:t>possible mistakes)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025207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061"/>
    </mc:Choice>
    <mc:Fallback xmlns="">
      <p:transition spd="slow" advTm="19906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080B9-D2F1-2782-4B02-83B8890E0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41F-EC50-8E03-E794-1D343C864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Shop-n-Go vs. Interactive coding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B0886-C100-0264-544B-3095B9231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9680" cy="4351338"/>
          </a:xfrm>
          <a:ln w="38100"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Shop-n-Go</a:t>
            </a:r>
          </a:p>
          <a:p>
            <a:r>
              <a:rPr lang="en-US" dirty="0"/>
              <a:t>Pitch your idea/project as a ‘prompt’</a:t>
            </a:r>
          </a:p>
          <a:p>
            <a:r>
              <a:rPr lang="en-US" dirty="0"/>
              <a:t>AI generates a (Python) code for you</a:t>
            </a:r>
          </a:p>
          <a:p>
            <a:r>
              <a:rPr lang="en-US" dirty="0"/>
              <a:t>You copy-paste and run the code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CFD0A-764D-2DE4-D19C-8C22B5C40FCB}"/>
              </a:ext>
            </a:extLst>
          </p:cNvPr>
          <p:cNvSpPr txBox="1">
            <a:spLocks/>
          </p:cNvSpPr>
          <p:nvPr/>
        </p:nvSpPr>
        <p:spPr>
          <a:xfrm>
            <a:off x="6294120" y="1825625"/>
            <a:ext cx="5059680" cy="4351338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Interactive Coding</a:t>
            </a:r>
          </a:p>
          <a:p>
            <a:r>
              <a:rPr lang="nl-BE" dirty="0" err="1"/>
              <a:t>You</a:t>
            </a:r>
            <a:r>
              <a:rPr lang="nl-BE" dirty="0"/>
              <a:t> start a new file/project in IDE, 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give</a:t>
            </a:r>
            <a:r>
              <a:rPr lang="nl-BE" dirty="0"/>
              <a:t> </a:t>
            </a:r>
            <a:r>
              <a:rPr lang="nl-BE" dirty="0" err="1"/>
              <a:t>coding</a:t>
            </a:r>
            <a:r>
              <a:rPr lang="nl-BE" dirty="0"/>
              <a:t> hints (e.g. AI chat)</a:t>
            </a:r>
          </a:p>
          <a:p>
            <a:r>
              <a:rPr lang="nl-BE" dirty="0"/>
              <a:t>AI </a:t>
            </a:r>
            <a:r>
              <a:rPr lang="nl-BE" dirty="0" err="1"/>
              <a:t>makes</a:t>
            </a:r>
            <a:r>
              <a:rPr lang="nl-BE" dirty="0"/>
              <a:t> code-block </a:t>
            </a:r>
            <a:r>
              <a:rPr lang="nl-BE" dirty="0" err="1"/>
              <a:t>suggestions</a:t>
            </a:r>
            <a:r>
              <a:rPr lang="nl-BE" dirty="0"/>
              <a:t> or </a:t>
            </a:r>
            <a:r>
              <a:rPr lang="nl-BE" dirty="0" err="1"/>
              <a:t>completions</a:t>
            </a:r>
            <a:endParaRPr lang="nl-BE" dirty="0"/>
          </a:p>
          <a:p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proceed</a:t>
            </a:r>
            <a:r>
              <a:rPr lang="nl-BE" dirty="0"/>
              <a:t> </a:t>
            </a:r>
            <a:r>
              <a:rPr lang="nl-BE" dirty="0" err="1"/>
              <a:t>with</a:t>
            </a:r>
            <a:r>
              <a:rPr lang="nl-BE" dirty="0"/>
              <a:t> finishing </a:t>
            </a:r>
            <a:r>
              <a:rPr lang="nl-BE" dirty="0" err="1"/>
              <a:t>your</a:t>
            </a:r>
            <a:r>
              <a:rPr lang="nl-BE" dirty="0"/>
              <a:t> project </a:t>
            </a:r>
            <a:r>
              <a:rPr lang="nl-BE" dirty="0" err="1"/>
              <a:t>incrementally</a:t>
            </a:r>
            <a:r>
              <a:rPr lang="nl-BE" dirty="0"/>
              <a:t> 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interactively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314472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061"/>
    </mc:Choice>
    <mc:Fallback xmlns="">
      <p:transition spd="slow" advTm="19906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93F1C-4205-B3F0-287D-B8BA3A10B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14BE1-B044-6852-BC84-BE3DFE0BB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Microsoft Copilot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98972-EDE0-87B7-C033-71F623093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Possible interfaces:</a:t>
            </a:r>
          </a:p>
          <a:p>
            <a:r>
              <a:rPr lang="nl-BE" dirty="0" err="1"/>
              <a:t>Copilot</a:t>
            </a:r>
            <a:r>
              <a:rPr lang="nl-BE" dirty="0"/>
              <a:t> on </a:t>
            </a:r>
            <a:r>
              <a:rPr lang="nl-BE" dirty="0" err="1"/>
              <a:t>the</a:t>
            </a:r>
            <a:r>
              <a:rPr lang="nl-BE" dirty="0"/>
              <a:t> web (</a:t>
            </a:r>
            <a:r>
              <a:rPr lang="nl-BE" dirty="0" err="1"/>
              <a:t>using</a:t>
            </a:r>
            <a:r>
              <a:rPr lang="nl-BE" dirty="0"/>
              <a:t> KU Leuven </a:t>
            </a:r>
            <a:r>
              <a:rPr lang="nl-BE" dirty="0" err="1"/>
              <a:t>license</a:t>
            </a:r>
            <a:r>
              <a:rPr lang="nl-BE" dirty="0"/>
              <a:t>): </a:t>
            </a:r>
            <a:r>
              <a:rPr lang="nl-BE" dirty="0">
                <a:hlinkClick r:id="rId2"/>
              </a:rPr>
              <a:t>https://copilot.cloud.microsoft/</a:t>
            </a:r>
            <a:r>
              <a:rPr lang="nl-BE" dirty="0"/>
              <a:t> </a:t>
            </a:r>
          </a:p>
          <a:p>
            <a:r>
              <a:rPr lang="nl-BE" dirty="0" err="1"/>
              <a:t>Copilot</a:t>
            </a:r>
            <a:r>
              <a:rPr lang="nl-BE" dirty="0"/>
              <a:t> app (login </a:t>
            </a:r>
            <a:r>
              <a:rPr lang="nl-BE" dirty="0" err="1"/>
              <a:t>with</a:t>
            </a:r>
            <a:r>
              <a:rPr lang="nl-BE" dirty="0"/>
              <a:t> KU Leuven/MFA)</a:t>
            </a:r>
          </a:p>
          <a:p>
            <a:r>
              <a:rPr lang="nl-BE" dirty="0" err="1"/>
              <a:t>Copilot</a:t>
            </a:r>
            <a:r>
              <a:rPr lang="nl-BE" dirty="0"/>
              <a:t> </a:t>
            </a:r>
            <a:r>
              <a:rPr lang="nl-BE" dirty="0" err="1"/>
              <a:t>integration</a:t>
            </a:r>
            <a:r>
              <a:rPr lang="nl-BE" dirty="0"/>
              <a:t> in Visual Studio Code</a:t>
            </a:r>
            <a:br>
              <a:rPr lang="nl-BE" dirty="0"/>
            </a:br>
            <a:r>
              <a:rPr lang="nl-BE" dirty="0"/>
              <a:t>See </a:t>
            </a:r>
            <a:r>
              <a:rPr lang="nl-BE" dirty="0">
                <a:hlinkClick r:id="rId3"/>
              </a:rPr>
              <a:t>https://code.visualstudio.com/docs/copilot/overview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7974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061"/>
    </mc:Choice>
    <mc:Fallback xmlns="">
      <p:transition spd="slow" advTm="19906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8DF3A-AEB8-2E10-CB78-C7808D689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89C67-508D-1F37-9360-46AF53920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Microsoft Copilot in </a:t>
            </a:r>
            <a:r>
              <a:rPr lang="en-US" dirty="0" err="1"/>
              <a:t>VSCode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3BDCE-7CB8-C5D0-156B-1AC8A9FE0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Requirements and steps (see this </a:t>
            </a:r>
            <a:r>
              <a:rPr lang="en-US" dirty="0">
                <a:hlinkClick r:id="rId2"/>
              </a:rPr>
              <a:t>link</a:t>
            </a:r>
            <a:r>
              <a:rPr lang="en-US" dirty="0"/>
              <a:t>)</a:t>
            </a:r>
          </a:p>
          <a:p>
            <a:r>
              <a:rPr lang="en-US" dirty="0"/>
              <a:t>Install Visual Studio Code: </a:t>
            </a:r>
            <a:r>
              <a:rPr lang="en-US" dirty="0">
                <a:hlinkClick r:id="rId3"/>
              </a:rPr>
              <a:t>https://code.visualstudio.com/download</a:t>
            </a:r>
            <a:r>
              <a:rPr lang="en-US" dirty="0"/>
              <a:t> </a:t>
            </a:r>
          </a:p>
          <a:p>
            <a:r>
              <a:rPr lang="en-US" dirty="0"/>
              <a:t>(Optional) Create a </a:t>
            </a:r>
            <a:r>
              <a:rPr lang="en-US" dirty="0" err="1"/>
              <a:t>Github</a:t>
            </a:r>
            <a:r>
              <a:rPr lang="en-US" dirty="0"/>
              <a:t> account: </a:t>
            </a:r>
            <a:r>
              <a:rPr lang="en-US" dirty="0">
                <a:hlinkClick r:id="rId4"/>
              </a:rPr>
              <a:t>https://github.com/</a:t>
            </a:r>
            <a:r>
              <a:rPr lang="en-US" dirty="0"/>
              <a:t> </a:t>
            </a:r>
          </a:p>
          <a:p>
            <a:r>
              <a:rPr lang="en-US" dirty="0"/>
              <a:t>(Recommended) Install Microsoft Python extension in </a:t>
            </a:r>
            <a:r>
              <a:rPr lang="en-US" dirty="0" err="1"/>
              <a:t>VSCode</a:t>
            </a:r>
            <a:endParaRPr lang="en-US" dirty="0"/>
          </a:p>
          <a:p>
            <a:r>
              <a:rPr lang="nl-BE" dirty="0"/>
              <a:t>In </a:t>
            </a:r>
            <a:r>
              <a:rPr lang="nl-BE" dirty="0" err="1"/>
              <a:t>VSCode</a:t>
            </a:r>
            <a:r>
              <a:rPr lang="nl-BE" dirty="0"/>
              <a:t>, at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bottom</a:t>
            </a:r>
            <a:r>
              <a:rPr lang="nl-BE" dirty="0"/>
              <a:t> right, click on</a:t>
            </a:r>
          </a:p>
          <a:p>
            <a:r>
              <a:rPr lang="nl-BE" dirty="0" err="1"/>
              <a:t>Authenticate</a:t>
            </a:r>
            <a:r>
              <a:rPr lang="nl-BE" dirty="0"/>
              <a:t> </a:t>
            </a:r>
            <a:r>
              <a:rPr lang="nl-BE" dirty="0" err="1"/>
              <a:t>using</a:t>
            </a:r>
            <a:r>
              <a:rPr lang="nl-BE" dirty="0"/>
              <a:t> </a:t>
            </a:r>
            <a:r>
              <a:rPr lang="nl-BE" dirty="0" err="1"/>
              <a:t>your</a:t>
            </a:r>
            <a:r>
              <a:rPr lang="nl-BE" dirty="0"/>
              <a:t> KU Leuven account (MFA)</a:t>
            </a:r>
          </a:p>
          <a:p>
            <a:r>
              <a:rPr lang="nl-BE" dirty="0" err="1"/>
              <a:t>Enable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chat: </a:t>
            </a:r>
            <a:r>
              <a:rPr lang="nl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Ctrl+Alt+I</a:t>
            </a:r>
            <a:endParaRPr lang="nl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 descr="Github Copilot Icon SVG Vector &amp; PNG Free Download | UXWing">
            <a:extLst>
              <a:ext uri="{FF2B5EF4-FFF2-40B4-BE49-F238E27FC236}">
                <a16:creationId xmlns:a16="http://schemas.microsoft.com/office/drawing/2014/main" id="{C49E3CB2-4168-2E07-2EE6-1D74A9657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41705" y="4104861"/>
            <a:ext cx="788504" cy="788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827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061"/>
    </mc:Choice>
    <mc:Fallback xmlns="">
      <p:transition spd="slow" advTm="19906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81CB5-08BE-03CB-9A9D-69C3AE4E3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9080B-6573-BEC6-3271-AA75329FE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Correlated health metrics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EC149-638C-6220-B3D3-6C2006B6C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Question: Which health metrics correlate with one another?</a:t>
            </a:r>
          </a:p>
          <a:p>
            <a:r>
              <a:rPr lang="en-US" dirty="0"/>
              <a:t>Dataset: From Kaggle</a:t>
            </a:r>
            <a:br>
              <a:rPr lang="en-US" dirty="0"/>
            </a:br>
            <a:r>
              <a:rPr lang="en-US" dirty="0">
                <a:hlinkClick r:id="rId2"/>
              </a:rPr>
              <a:t>https://www.kaggle.com/datasets/jockeroika/life-style-data/data</a:t>
            </a:r>
            <a:br>
              <a:rPr lang="en-US" dirty="0"/>
            </a:br>
            <a:r>
              <a:rPr lang="en-US" dirty="0"/>
              <a:t>Download as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.zip </a:t>
            </a:r>
            <a:r>
              <a:rPr lang="en-US" dirty="0"/>
              <a:t>file and extract in a working directory</a:t>
            </a:r>
          </a:p>
          <a:p>
            <a:r>
              <a:rPr lang="en-US" dirty="0"/>
              <a:t>In </a:t>
            </a:r>
            <a:r>
              <a:rPr lang="en-US" dirty="0" err="1"/>
              <a:t>VSCode</a:t>
            </a:r>
            <a:r>
              <a:rPr lang="en-US" dirty="0"/>
              <a:t>: create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lifestyle-metrics.py</a:t>
            </a:r>
          </a:p>
          <a:p>
            <a:r>
              <a:rPr lang="en-US" dirty="0"/>
              <a:t>Make sure your Microsoft Copilot is ready</a:t>
            </a:r>
          </a:p>
          <a:p>
            <a:r>
              <a:rPr lang="en-US" dirty="0"/>
              <a:t>Use comment lines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dirty="0"/>
              <a:t> as prompts to guide the AI engine</a:t>
            </a:r>
          </a:p>
          <a:p>
            <a:r>
              <a:rPr lang="en-US" dirty="0"/>
              <a:t>Accept suggestions with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&lt;TAB&gt;</a:t>
            </a:r>
            <a:r>
              <a:rPr lang="en-US" dirty="0"/>
              <a:t> or skip them with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&lt;Enter&gt;</a:t>
            </a:r>
          </a:p>
          <a:p>
            <a:r>
              <a:rPr lang="en-US" dirty="0"/>
              <a:t>Give prompts one by one: let AI suggest code incrementally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52391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061"/>
    </mc:Choice>
    <mc:Fallback xmlns="">
      <p:transition spd="slow" advTm="19906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CC7B5-FBF9-C946-E97B-C7913BB93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0F0D9-5501-BDC0-EECB-6579BF8B6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Correlated health metrics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00F04-91A9-C763-08C8-8D5BA1208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24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Some inspirations: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import necessary packages only from python standard library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Read CSV file and load data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Convert data to column-major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Extract column names and types; cast str -&gt; float</a:t>
            </a:r>
            <a:br>
              <a:rPr lang="nl-B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Select </a:t>
            </a:r>
            <a:r>
              <a:rPr lang="nl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</a:t>
            </a:r>
            <a:r>
              <a:rPr lang="nl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numerical</a:t>
            </a:r>
            <a:r>
              <a:rPr lang="nl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columns </a:t>
            </a:r>
            <a:r>
              <a:rPr lang="nl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nl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health-</a:t>
            </a:r>
            <a:r>
              <a:rPr lang="nl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metric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Compute pairwise correlation between columns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Print the correlation metrics</a:t>
            </a:r>
            <a:endParaRPr lang="nl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4672D4-B275-BD1A-1029-901D6E0AEC53}"/>
              </a:ext>
            </a:extLst>
          </p:cNvPr>
          <p:cNvSpPr txBox="1"/>
          <p:nvPr/>
        </p:nvSpPr>
        <p:spPr>
          <a:xfrm>
            <a:off x="2812773" y="5757949"/>
            <a:ext cx="5913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… and here be dragons!</a:t>
            </a:r>
            <a:endParaRPr lang="nl-BE" sz="2800" dirty="0"/>
          </a:p>
        </p:txBody>
      </p:sp>
    </p:spTree>
    <p:extLst>
      <p:ext uri="{BB962C8B-B14F-4D97-AF65-F5344CB8AC3E}">
        <p14:creationId xmlns:p14="http://schemas.microsoft.com/office/powerpoint/2010/main" val="3944148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061"/>
    </mc:Choice>
    <mc:Fallback xmlns="">
      <p:transition spd="slow" advTm="1990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Office Theme</vt:lpstr>
      <vt:lpstr>Python</vt:lpstr>
      <vt:lpstr>Why using AI for coding?</vt:lpstr>
      <vt:lpstr>Which backend to use?</vt:lpstr>
      <vt:lpstr>Where does AI help with programming?</vt:lpstr>
      <vt:lpstr>Shop-n-Go vs. Interactive coding</vt:lpstr>
      <vt:lpstr>Using Microsoft Copilot</vt:lpstr>
      <vt:lpstr>Setting up Microsoft Copilot in VSCode</vt:lpstr>
      <vt:lpstr>Demo 1: Correlated health metrics</vt:lpstr>
      <vt:lpstr>Demo 1: Correlated health metrics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Ehsan Moravveji</dc:creator>
  <cp:lastModifiedBy>Ehsan Moravveji</cp:lastModifiedBy>
  <cp:revision>2</cp:revision>
  <dcterms:created xsi:type="dcterms:W3CDTF">2025-10-13T12:42:05Z</dcterms:created>
  <dcterms:modified xsi:type="dcterms:W3CDTF">2026-10-01T10:19:13Z</dcterms:modified>
</cp:coreProperties>
</file>